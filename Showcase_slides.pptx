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loss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0.315759</c:v>
                </c:pt>
                <c:pt idx="1">
                  <c:v>0.1562</c:v>
                </c:pt>
                <c:pt idx="2">
                  <c:v>0.118151</c:v>
                </c:pt>
                <c:pt idx="3">
                  <c:v>0.096181</c:v>
                </c:pt>
                <c:pt idx="4">
                  <c:v>0.078231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6B-C94C-8E51-1A7D3DADCE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loss</c:v>
                </c:pt>
              </c:strCache>
            </c:strRef>
          </c:tx>
          <c:spPr>
            <a:ln w="31750" cap="flat">
              <a:solidFill>
                <a:srgbClr val="E5393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53935"/>
              </a:solidFill>
              <a:ln w="9525" cap="flat">
                <a:solidFill>
                  <a:srgbClr val="E53935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0.308885</c:v>
                </c:pt>
                <c:pt idx="1">
                  <c:v>0.235948</c:v>
                </c:pt>
                <c:pt idx="2">
                  <c:v>0.206447</c:v>
                </c:pt>
                <c:pt idx="3">
                  <c:v>0.225019</c:v>
                </c:pt>
                <c:pt idx="4">
                  <c:v>0.383113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A6B-C94C-8E51-1A7D3DADCE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GB"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GB" b="0" i="0" u="none" strike="noStrike">
                    <a:solidFill>
                      <a:srgbClr val="000000"/>
                    </a:solidFill>
                    <a:latin typeface="Arial"/>
                  </a:rPr>
                  <a:t>Loss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7F9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104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Video Detection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Frame-Level CNN Classifier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2004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Yav  ·  Student ID: 21396816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77063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(Hons) Software Engineering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20954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Metropolitan University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64845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 Nicholas Costen  ·  2025–2026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deepfakes?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Synthetically manipulated videos in which a subject's face is replaced or altered using generative AI, typically undetectable by an untrained observer.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detection matters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content poses measurable risks to public trust, journalistic integrity, and personal identity — several high-profile cases have already driven regulatory attention.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aim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frame-level binary classifier that scores each sampled face crop as REAL or FAKE, aggregating scores to produce a video-level verdict.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Related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datasets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FaceForensics++ (Rössler et al., 2019) and the DeepFake Detection Challenge (Dolhansky et al., 2020) are the standard benchmarks for this task.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strategies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Frame-level classifiers (this project) treat each face crop independently. Temporal models — 3D CNNs or LSTMs over frame embeddings — exploit inter-frame inconsistency but require greater computational resource.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backbones in the literature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XceptionNet (Rössler et al.), EfficientNet, and ResNet variants are frequently compared. ResNet18 provides a compact, well-understood baseline suitable for a time-bounded undergraduate project.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834640" y="896112"/>
            <a:ext cx="3474720" cy="384048"/>
          </a:xfrm>
          <a:prstGeom prst="rect">
            <a:avLst/>
          </a:prstGeom>
          <a:solidFill>
            <a:srgbClr val="CADCFC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834640" y="8961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MP4 video input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62856" y="1280160"/>
            <a:ext cx="0" cy="182880"/>
          </a:xfrm>
          <a:prstGeom prst="line">
            <a:avLst/>
          </a:prstGeom>
          <a:noFill/>
          <a:ln w="1905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17136" y="1408176"/>
            <a:ext cx="109728" cy="109728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834640" y="1463040"/>
            <a:ext cx="3474720" cy="384048"/>
          </a:xfrm>
          <a:prstGeom prst="rect">
            <a:avLst/>
          </a:prstGeom>
          <a:solidFill>
            <a:srgbClr val="CADCFC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34640" y="14630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OpenCV: sample 1 frame per 30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62856" y="1847088"/>
            <a:ext cx="0" cy="182880"/>
          </a:xfrm>
          <a:prstGeom prst="line">
            <a:avLst/>
          </a:prstGeom>
          <a:noFill/>
          <a:ln w="1905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17136" y="1975104"/>
            <a:ext cx="109728" cy="109728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34640" y="2029968"/>
            <a:ext cx="3474720" cy="384048"/>
          </a:xfrm>
          <a:prstGeom prst="rect">
            <a:avLst/>
          </a:prstGeom>
          <a:solidFill>
            <a:srgbClr val="CADCFC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34640" y="20299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MTCNN: detect &amp; crop face → 224×224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62856" y="2414016"/>
            <a:ext cx="0" cy="182880"/>
          </a:xfrm>
          <a:prstGeom prst="line">
            <a:avLst/>
          </a:prstGeom>
          <a:noFill/>
          <a:ln w="1905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17136" y="2542032"/>
            <a:ext cx="109728" cy="109728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834640" y="2596896"/>
            <a:ext cx="3474720" cy="384048"/>
          </a:xfrm>
          <a:prstGeom prst="rect">
            <a:avLst/>
          </a:prstGeom>
          <a:solidFill>
            <a:srgbClr val="CADCFC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34640" y="25968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normalisation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62856" y="2980944"/>
            <a:ext cx="0" cy="182880"/>
          </a:xfrm>
          <a:prstGeom prst="line">
            <a:avLst/>
          </a:prstGeom>
          <a:noFill/>
          <a:ln w="1905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17136" y="3108960"/>
            <a:ext cx="109728" cy="109728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834640" y="3163824"/>
            <a:ext cx="3474720" cy="384048"/>
          </a:xfrm>
          <a:prstGeom prst="rect">
            <a:avLst/>
          </a:prstGeom>
          <a:solidFill>
            <a:srgbClr val="1E2761"/>
          </a:solidFill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834640" y="31638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 (transfer-learned)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62856" y="3547872"/>
            <a:ext cx="0" cy="182880"/>
          </a:xfrm>
          <a:prstGeom prst="line">
            <a:avLst/>
          </a:prstGeom>
          <a:noFill/>
          <a:ln w="1905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17136" y="3675888"/>
            <a:ext cx="109728" cy="109728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834640" y="3730752"/>
            <a:ext cx="3474720" cy="384048"/>
          </a:xfrm>
          <a:prstGeom prst="rect">
            <a:avLst/>
          </a:prstGeom>
          <a:solidFill>
            <a:srgbClr val="CADCFC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834640" y="37307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 P(fake) / P(real) per frame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62856" y="4114800"/>
            <a:ext cx="0" cy="182880"/>
          </a:xfrm>
          <a:prstGeom prst="line">
            <a:avLst/>
          </a:prstGeom>
          <a:noFill/>
          <a:ln w="1905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17136" y="4242816"/>
            <a:ext cx="109728" cy="109728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834640" y="4297680"/>
            <a:ext cx="3474720" cy="384048"/>
          </a:xfrm>
          <a:prstGeom prst="rect">
            <a:avLst/>
          </a:prstGeom>
          <a:solidFill>
            <a:srgbClr val="CADCFC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834640" y="42976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across frames → video-level verdict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Ethics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mafiosoquasar/deepfake-faces (DFDC-derived face crops): 86,655 real images and 120,769 fake images.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&amp; split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images per class sampled with fixed seed 42; split 70 / 15 / 15 → 7,000 train · 1,500 val · 1,500 test. Split manifest: data/working/manifest.csv.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sign-off: Dr Nicholas Costen (EAN.txt). No children present; no re-identification attempted; no raw face data redistributed in the submission archive.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Training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ResNet18, ImageNet-pretrained (ResNet18_Weights.IMAGENET1K_V1). Final fully-connected layer replaced with nn.Linear(512, 2). 11,177,538 total parameters; all trainable.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&amp; schedule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AdamW, learning rate 1e-4, weight decay 1e-4. Cross-entropy loss applied to raw logits (no softmax in the model). 5 epochs; best checkpoint selected on validation accuracy.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reproducibility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Apple M4 (MPS backend) in under 10 minutes. Seed 42 applied across Python, NumPy, and PyTorch. Minor MPS non-determinism noted; CPU runs are fully deterministic.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914400"/>
          <a:ext cx="82296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 diverges from training loss after epoch 3 — best-model checkpointing on val accuracy mitigated overfitting.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Headline Metrics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0" y="1097280"/>
          <a:ext cx="4023360" cy="29260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F1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samples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set: 750 real + 750 fake face crops.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0.9814 — strong threshold-independent discrimination between real and fake face crops.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FC80D0-2285-EF7A-9D48-24F23F494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312" y="960120"/>
            <a:ext cx="642937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exhibits a slight false-positive bias — recall on fake class = 0.908.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47AC0A-7591-216E-40DD-653AF417C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312" y="960120"/>
            <a:ext cx="642937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Design Choices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trained on DFDC-derived face crops. Out-of-distribution clips (e.g. webcam selfies) produced P(fake) = 0.510 — borderline confidence suggesting reduced generalisation.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Single-architecture comparison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ResNet18 was evaluated within the project timeline. ResNet50 and Xception comparisons are natural next steps and would strengthen ablation evidence.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modelling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scores are aggregated by arithmetic mean, discarding inter-frame consistency entirely. A 3D CNN or LSTM over frame embeddings would likely improve performance on longer clips.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92.47% accuracy / AUC 0.981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Transfer-learned ResNet18 baseline on a held-out test set of 1,500 balanced face crops — strong performance for a frame-level classifier within the project scope.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next steps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evaluation on FaceForensics++ (to assess cross-generator generalisation), temporal modelling (3D CNN or LSTM), and threshold calibration for in-the-wild deployment.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 pipeline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prepare_data.py → train.py → evaluate.py reproduces headline numbers from a cold checkout. Seed 42 applied throughout; manifest.csv provides a cast-iron split record.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0" y="4389120"/>
            <a:ext cx="1828800" cy="502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0" y="4389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21396816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804</Words>
  <Application>Microsoft Macintosh PowerPoint</Application>
  <PresentationFormat>On-screen Show (16:9)</PresentationFormat>
  <Paragraphs>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Deepfake Video Detection — Frame-Level CNN Classifier</dc:title>
  <dc:subject>PptxGenJS Presentation</dc:subject>
  <dc:creator>Coco Yav</dc:creator>
  <cp:lastModifiedBy>Coco Yav</cp:lastModifiedBy>
  <cp:revision>2</cp:revision>
  <dcterms:created xsi:type="dcterms:W3CDTF">2026-05-03T14:09:03Z</dcterms:created>
  <dcterms:modified xsi:type="dcterms:W3CDTF">2026-05-03T15:06:41Z</dcterms:modified>
</cp:coreProperties>
</file>